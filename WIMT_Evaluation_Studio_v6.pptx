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F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1051560" cy="105156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WELLS</a:t>
            </a:r>
            <a:endParaRPr lang="en-US" sz="1725" dirty="0"/>
          </a:p>
          <a:p>
            <a:pPr algn="ctr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FARGO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2377440" cy="0"/>
          </a:xfrm>
          <a:prstGeom prst="line">
            <a:avLst/>
          </a:prstGeom>
          <a:noFill/>
          <a:ln w="25400">
            <a:solidFill>
              <a:srgbClr val="FFCD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09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© 2026 Wells Fargo Bank, N.A. All rights reserved. Internal use.</a:t>
            </a:r>
            <a:endParaRPr lang="en-US" sz="9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640080" y="214884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640080" y="2971800"/>
            <a:ext cx="6035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685800" y="434340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F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594360" cy="59436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WELLS</a:t>
            </a:r>
            <a:endParaRPr lang="en-US" sz="975" dirty="0"/>
          </a:p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FARGO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© 2026 Wells Fargo Bank, N.A. All rights reserved. Internal use.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685800"/>
            <a:ext cx="102412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640080" y="214884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WIMT Evaluation Studio</a:t>
            </a:r>
            <a:endParaRPr lang="en-US" sz="4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640080" y="29718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One place to test and track the quality of our AI answers</a:t>
            </a:r>
            <a:endParaRPr lang="en-US" sz="2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685800" y="434340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WIMT — AHP Pro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Rahul Vinayak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0" y="14173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1764792"/>
            <a:ext cx="493776" cy="493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69680" y="14173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E2F3F4"/>
          </a:solidFill>
          <a:ln w="12700">
            <a:solidFill>
              <a:srgbClr val="E2F3F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1764792"/>
            <a:ext cx="493776" cy="49377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241280" y="14173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1764792"/>
            <a:ext cx="493776" cy="49377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498080" y="27889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FFF5D1"/>
          </a:solidFill>
          <a:ln w="12700">
            <a:solidFill>
              <a:srgbClr val="FFF5D1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136392"/>
            <a:ext cx="493776" cy="49377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869680" y="27889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2" y="3136392"/>
            <a:ext cx="493776" cy="49377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0241280" y="27889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752" y="3136392"/>
            <a:ext cx="493776" cy="493776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498080" y="41605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8C1D24"/>
          </a:solidFill>
          <a:ln w="12700">
            <a:solidFill>
              <a:srgbClr val="8C1D24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4507992"/>
            <a:ext cx="493776" cy="493776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8869680" y="41605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152" y="4507992"/>
            <a:ext cx="493776" cy="493776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10241280" y="41605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8752" y="4507992"/>
            <a:ext cx="493776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1E28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685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we need an evaluation studio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75688"/>
            <a:ext cx="694944" cy="69494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494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1E28"/>
                </a:solidFill>
              </a:rPr>
              <a:t>Checking answers is manual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31343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Experts read AI answers one by one to check them. This is slow and does not scale.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075688"/>
            <a:ext cx="694944" cy="694944"/>
          </a:xfrm>
          <a:prstGeom prst="ellipse">
            <a:avLst/>
          </a:prstGeom>
          <a:solidFill>
            <a:srgbClr val="C8500A"/>
          </a:solidFill>
          <a:ln w="12700">
            <a:solidFill>
              <a:srgbClr val="C8500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24942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00A"/>
                </a:solidFill>
              </a:rPr>
              <a:t>Testing runs on laptops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231343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Teams run test scripts on their own machines and share files. One full test can take 3–4 hours.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E8EAF6"/>
          </a:solidFill>
          <a:ln w="9525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767328"/>
            <a:ext cx="694944" cy="69494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94106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3611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49AB"/>
                </a:solidFill>
              </a:rPr>
              <a:t>Results don't last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400507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Traces are kept only for about two weeks, and judge results are not saved anywhere.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26480" y="338328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E2F3F4"/>
          </a:solidFill>
          <a:ln w="9525">
            <a:solidFill>
              <a:srgbClr val="E2F3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0" y="3767328"/>
            <a:ext cx="694944" cy="69494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394106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15200" y="3611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</a:rPr>
              <a:t>No single place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0" y="400507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Each team uses its own scripts and datasets, so there is no one source of truth.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516636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53035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5474970"/>
            <a:ext cx="342900" cy="3429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9164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D41"/>
                </a:solidFill>
              </a:rPr>
              <a:t>Goal: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one place where any team can test AI answers automatically, save the results, and track quality over time.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685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we check AI answers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3949AB"/>
          </a:solidFill>
          <a:ln w="9525">
            <a:solidFill>
              <a:srgbClr val="3949A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 questions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 fixed set of questions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054096" y="2240280"/>
            <a:ext cx="256032" cy="292608"/>
          </a:xfrm>
          <a:prstGeom prst="rightArrow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E7C86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8288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38728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Ask the AI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38728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Send each question to AI Teammate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843016" y="2240280"/>
            <a:ext cx="256032" cy="292608"/>
          </a:xfrm>
          <a:prstGeom prst="rightArrow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288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27648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Score the answer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27648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The judge gives a score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631936" y="2240280"/>
            <a:ext cx="256032" cy="292608"/>
          </a:xfrm>
          <a:prstGeom prst="rightArrow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1540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18288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16568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Save results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116568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Kept for reports and trends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3383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</a:rPr>
              <a:t>We check three things — the same things users rate today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8640" y="384048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4087368"/>
            <a:ext cx="685800" cy="685800"/>
          </a:xfrm>
          <a:prstGeom prst="ellipse">
            <a:avLst/>
          </a:prstGeom>
          <a:solidFill>
            <a:srgbClr val="C8500A"/>
          </a:solidFill>
          <a:ln w="12700">
            <a:solidFill>
              <a:srgbClr val="C8500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4258818"/>
            <a:ext cx="342900" cy="3429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4592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00A"/>
                </a:solidFill>
              </a:rPr>
              <a:t>Completeness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645920" y="4370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</a:rPr>
              <a:t>Did it answer the full question?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4251960" y="384048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E8EAF6"/>
          </a:solidFill>
          <a:ln w="9525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480560" y="4087368"/>
            <a:ext cx="685800" cy="68580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010" y="4258818"/>
            <a:ext cx="342900" cy="3429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34924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49AB"/>
                </a:solidFill>
              </a:rPr>
              <a:t>Relevance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5349240" y="4370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</a:rPr>
              <a:t>Is it about what was asked?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7955280" y="384048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E6F2E7"/>
          </a:solidFill>
          <a:ln w="9525">
            <a:solidFill>
              <a:srgbClr val="E6F2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183880" y="4087368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5330" y="4258818"/>
            <a:ext cx="342900" cy="3429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05256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Faithfulness</a:t>
            </a:r>
            <a:endParaRPr lang="en-US" sz="1800" dirty="0"/>
          </a:p>
        </p:txBody>
      </p:sp>
      <p:sp>
        <p:nvSpPr>
          <p:cNvPr id="40" name="Text 31"/>
          <p:cNvSpPr txBox="1"/>
          <p:nvPr/>
        </p:nvSpPr>
        <p:spPr>
          <a:xfrm>
            <a:off x="9052560" y="4370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</a:rPr>
              <a:t>Is it based on facts, with nothing made up?</a:t>
            </a:r>
            <a:endParaRPr lang="en-US" sz="135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5303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</a:rPr>
              <a:t>You get: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2B"/>
                </a:solidFill>
              </a:rPr>
              <a:t>a score for every run, trends over time, and a pass/fail check whenever a prompt or model changes.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E7C86"/>
                </a:solidFill>
              </a:rPr>
              <a:t>One place: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2B"/>
                </a:solidFill>
              </a:rPr>
              <a:t>manual and automatic scores are saved together.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49AB"/>
                </a:solidFill>
              </a:rPr>
              <a:t>LLM AS A JUDGE</a:t>
            </a:r>
            <a:endParaRPr lang="en-US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685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 AI that checks the AI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49AB"/>
                </a:solidFill>
              </a:rPr>
              <a:t>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E8EAF6"/>
          </a:solidFill>
          <a:ln w="9525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03120"/>
            <a:ext cx="384048" cy="38404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199132"/>
            <a:ext cx="192024" cy="1920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20116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User question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724912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E2F3F4"/>
          </a:solidFill>
          <a:ln w="9525">
            <a:solidFill>
              <a:srgbClr val="E2F3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2816352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12364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27249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Source documents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438144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" y="3529584"/>
            <a:ext cx="384048" cy="384048"/>
          </a:xfrm>
          <a:prstGeom prst="ellipse">
            <a:avLst/>
          </a:prstGeom>
          <a:solidFill>
            <a:srgbClr val="C8500A"/>
          </a:solidFill>
          <a:ln w="12700">
            <a:solidFill>
              <a:srgbClr val="C8500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625596"/>
            <a:ext cx="192024" cy="1920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34381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AI response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151376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E6F2E7"/>
          </a:solidFill>
          <a:ln w="9525">
            <a:solidFill>
              <a:srgbClr val="E6F2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24281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4338828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43000" y="415137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Expected answer (optional)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46120" y="3063240"/>
            <a:ext cx="365760" cy="320040"/>
          </a:xfrm>
          <a:prstGeom prst="rightArrow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749040" y="2011680"/>
            <a:ext cx="2377440" cy="2697480"/>
          </a:xfrm>
          <a:prstGeom prst="roundRect">
            <a:avLst>
              <a:gd name="adj" fmla="val 3846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40280"/>
            <a:ext cx="731520" cy="7315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88620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Judge LLM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393192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Checks completeness, relevance and faithfulness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63640" y="3063240"/>
            <a:ext cx="365760" cy="320040"/>
          </a:xfrm>
          <a:prstGeom prst="rightArrow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7665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49AB"/>
                </a:solidFill>
              </a:rPr>
              <a:t>Verdict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766560" y="201168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FF5D1"/>
          </a:solidFill>
          <a:ln w="9525">
            <a:solidFill>
              <a:srgbClr val="FFF5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694944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7860B"/>
                </a:solidFill>
              </a:rPr>
              <a:t>0 – 1</a:t>
            </a:r>
            <a:endParaRPr lang="en-US" sz="3200" dirty="0"/>
          </a:p>
        </p:txBody>
      </p:sp>
      <p:sp>
        <p:nvSpPr>
          <p:cNvPr id="32" name="Text 25"/>
          <p:cNvSpPr txBox="1"/>
          <p:nvPr/>
        </p:nvSpPr>
        <p:spPr>
          <a:xfrm>
            <a:off x="694944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score + reason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766560" y="333756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6812280" y="342900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PASS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above pass mark</a:t>
            </a:r>
            <a:endParaRPr lang="en-US" sz="1700" dirty="0"/>
          </a:p>
        </p:txBody>
      </p:sp>
      <p:sp>
        <p:nvSpPr>
          <p:cNvPr id="35" name="Shape 28"/>
          <p:cNvSpPr/>
          <p:nvPr/>
        </p:nvSpPr>
        <p:spPr>
          <a:xfrm>
            <a:off x="8001000" y="333756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C8500A"/>
          </a:solidFill>
          <a:ln w="9525">
            <a:solidFill>
              <a:srgbClr val="C8500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8046720" y="342900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REVIEW</a:t>
            </a:r>
            <a:endParaRPr lang="en-US" sz="17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below pass mark</a:t>
            </a:r>
            <a:endParaRPr lang="en-US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94183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49AB"/>
                </a:solidFill>
              </a:rPr>
              <a:t>Why we can trust it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9418320" y="2011680"/>
            <a:ext cx="365760" cy="3657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2103120"/>
            <a:ext cx="182880" cy="18288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87552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</a:rPr>
              <a:t>Checks the facts</a:t>
            </a:r>
            <a:endParaRPr lang="en-US" sz="1350" dirty="0"/>
          </a:p>
        </p:txBody>
      </p:sp>
      <p:sp>
        <p:nvSpPr>
          <p:cNvPr id="41" name="Text 33"/>
          <p:cNvSpPr txBox="1"/>
          <p:nvPr/>
        </p:nvSpPr>
        <p:spPr>
          <a:xfrm>
            <a:off x="9875520" y="23591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85C"/>
                </a:solidFill>
              </a:rPr>
              <a:t>Every claim is matched with the source documents.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9418320" y="292608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3017520"/>
            <a:ext cx="182880" cy="18288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9875520" y="2944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</a:rPr>
              <a:t>People stay in the loop</a:t>
            </a:r>
            <a:endParaRPr lang="en-US" sz="1350" dirty="0"/>
          </a:p>
        </p:txBody>
      </p:sp>
      <p:sp>
        <p:nvSpPr>
          <p:cNvPr id="45" name="Text 36"/>
          <p:cNvSpPr txBox="1"/>
          <p:nvPr/>
        </p:nvSpPr>
        <p:spPr>
          <a:xfrm>
            <a:off x="9875520" y="32735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85C"/>
                </a:solidFill>
              </a:rPr>
              <a:t>If the judge and a person disagree, it goes to review.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9418320" y="3840480"/>
            <a:ext cx="365760" cy="365760"/>
          </a:xfrm>
          <a:prstGeom prst="ellipse">
            <a:avLst/>
          </a:prstGeom>
          <a:solidFill>
            <a:srgbClr val="C8500A"/>
          </a:solidFill>
          <a:ln w="12700">
            <a:solidFill>
              <a:srgbClr val="C8500A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0" y="3931920"/>
            <a:ext cx="182880" cy="18288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9875520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500A"/>
                </a:solidFill>
              </a:rPr>
              <a:t>Flexible</a:t>
            </a:r>
            <a:endParaRPr lang="en-US" sz="1350" dirty="0"/>
          </a:p>
        </p:txBody>
      </p:sp>
      <p:sp>
        <p:nvSpPr>
          <p:cNvPr id="49" name="Text 39"/>
          <p:cNvSpPr txBox="1"/>
          <p:nvPr/>
        </p:nvSpPr>
        <p:spPr>
          <a:xfrm>
            <a:off x="9875520" y="41879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85C"/>
                </a:solidFill>
              </a:rPr>
              <a:t>Any Tachyon model can be the judge.</a:t>
            </a:r>
            <a:endParaRPr lang="en-US" sz="1150" dirty="0"/>
          </a:p>
        </p:txBody>
      </p:sp>
      <p:sp>
        <p:nvSpPr>
          <p:cNvPr id="50" name="Shape 40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777240" y="5212080"/>
            <a:ext cx="685800" cy="68580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690" y="5383530"/>
            <a:ext cx="342900" cy="34290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691640" y="5120640"/>
            <a:ext cx="9738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D41"/>
                </a:solidFill>
              </a:rPr>
              <a:t>Why use a judge: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Experts can't read thousands of answers every release. The judge checks every answer the same way, and people only look at the ones it flags.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PER CHANNEL</a:t>
            </a:r>
            <a:endParaRPr lang="en-US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685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score for every channel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</a:rPr>
              <a:t>Same tests, run on each channel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D71E28"/>
          </a:solidFill>
          <a:ln w="9525">
            <a:solidFill>
              <a:srgbClr val="D71E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CCG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First Clearing  ·  own score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214884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0E7C86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55848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FINET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FiNet  ·  own score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3949AB"/>
          </a:solidFill>
          <a:ln w="9525">
            <a:solidFill>
              <a:srgbClr val="3949A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WBS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own score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154680" y="356616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C8500A"/>
          </a:solidFill>
          <a:ln w="9525">
            <a:solidFill>
              <a:srgbClr val="C8500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355848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PCG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355848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own score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85C"/>
                </a:solidFill>
              </a:rPr>
              <a:t>Each channel has its own data and needs.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645920"/>
            <a:ext cx="5669280" cy="987552"/>
          </a:xfrm>
          <a:prstGeom prst="roundRect">
            <a:avLst>
              <a:gd name="adj" fmla="val 9259"/>
            </a:avLst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828800"/>
            <a:ext cx="603504" cy="603504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356" y="1979676"/>
            <a:ext cx="301752" cy="30175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903720" y="17556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71E28"/>
                </a:solidFill>
              </a:rPr>
              <a:t>One overall score can hide problems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So we show a separate score for each channel.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43600" y="2761488"/>
            <a:ext cx="5669280" cy="987552"/>
          </a:xfrm>
          <a:prstGeom prst="roundRect">
            <a:avLst>
              <a:gd name="adj" fmla="val 9259"/>
            </a:avLst>
          </a:prstGeom>
          <a:solidFill>
            <a:srgbClr val="E2F3F4"/>
          </a:solidFill>
          <a:ln w="9525">
            <a:solidFill>
              <a:srgbClr val="E2F3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26480" y="2944368"/>
            <a:ext cx="603504" cy="60350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3095244"/>
            <a:ext cx="301752" cy="301752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903720" y="28712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86"/>
                </a:solidFill>
              </a:rPr>
              <a:t>Own test set and pass mark</a:t>
            </a:r>
            <a:endParaRPr lang="en-US" sz="1550" dirty="0"/>
          </a:p>
        </p:txBody>
      </p:sp>
      <p:sp>
        <p:nvSpPr>
          <p:cNvPr id="29" name="Text 25"/>
          <p:cNvSpPr txBox="1"/>
          <p:nvPr/>
        </p:nvSpPr>
        <p:spPr>
          <a:xfrm>
            <a:off x="6903720" y="3218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Each channel can have its own questions and pass mark.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943600" y="3877056"/>
            <a:ext cx="5669280" cy="987552"/>
          </a:xfrm>
          <a:prstGeom prst="roundRect">
            <a:avLst>
              <a:gd name="adj" fmla="val 9259"/>
            </a:avLst>
          </a:prstGeom>
          <a:solidFill>
            <a:srgbClr val="E8EAF6"/>
          </a:solidFill>
          <a:ln w="9525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126480" y="4059936"/>
            <a:ext cx="603504" cy="603504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6" y="4210812"/>
            <a:ext cx="301752" cy="30175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903720" y="39867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949AB"/>
                </a:solidFill>
              </a:rPr>
              <a:t>Right settings for each channel</a:t>
            </a:r>
            <a:endParaRPr lang="en-US" sz="1550" dirty="0"/>
          </a:p>
        </p:txBody>
      </p:sp>
      <p:sp>
        <p:nvSpPr>
          <p:cNvPr id="34" name="Text 29"/>
          <p:cNvSpPr txBox="1"/>
          <p:nvPr/>
        </p:nvSpPr>
        <p:spPr>
          <a:xfrm>
            <a:off x="6903720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Each channel and environment has its own endpoint, so we use the right one.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5943600" y="4992624"/>
            <a:ext cx="5669280" cy="987552"/>
          </a:xfrm>
          <a:prstGeom prst="roundRect">
            <a:avLst>
              <a:gd name="adj" fmla="val 925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126480" y="5175504"/>
            <a:ext cx="603504" cy="603504"/>
          </a:xfrm>
          <a:prstGeom prst="ellipse">
            <a:avLst/>
          </a:prstGeom>
          <a:solidFill>
            <a:srgbClr val="C8500A"/>
          </a:solidFill>
          <a:ln w="12700">
            <a:solidFill>
              <a:srgbClr val="C8500A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5326380"/>
            <a:ext cx="301752" cy="30175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903720" y="5102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8500A"/>
                </a:solidFill>
              </a:rPr>
              <a:t>Catch problems early</a:t>
            </a:r>
            <a:endParaRPr lang="en-US" sz="1550" dirty="0"/>
          </a:p>
        </p:txBody>
      </p:sp>
      <p:sp>
        <p:nvSpPr>
          <p:cNvPr id="39" name="Text 33"/>
          <p:cNvSpPr txBox="1"/>
          <p:nvPr/>
        </p:nvSpPr>
        <p:spPr>
          <a:xfrm>
            <a:off x="6903720" y="54498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If a change helps PCG but breaks WBS, we catch it before advisors see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C8500A"/>
          </a:solidFill>
          <a:ln w="12700">
            <a:solidFill>
              <a:srgbClr val="C850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00A"/>
                </a:solidFill>
              </a:rPr>
              <a:t>MODEL PLAYGROUND</a:t>
            </a:r>
            <a:endParaRPr lang="en-US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685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Try prompts live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85C"/>
                </a:solidFill>
              </a:rPr>
              <a:t>Type a prompt, pick a model, and see the answer — without opening the full chat app.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554480" y="2852928"/>
            <a:ext cx="8961120" cy="0"/>
          </a:xfrm>
          <a:prstGeom prst="line">
            <a:avLst/>
          </a:prstGeom>
          <a:noFill/>
          <a:ln w="38100">
            <a:solidFill>
              <a:srgbClr val="E3E3E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51560" y="2331720"/>
            <a:ext cx="1005840" cy="100584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8EA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423160"/>
            <a:ext cx="822960" cy="8229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262890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49AB"/>
                </a:solidFill>
              </a:rPr>
              <a:t>1. Pick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85C"/>
                </a:solidFill>
              </a:rPr>
              <a:t>model / channel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91840" y="2331720"/>
            <a:ext cx="1005840" cy="100584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2F3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242316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26289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8892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86"/>
                </a:solidFill>
              </a:rPr>
              <a:t>2. Enter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788920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85C"/>
                </a:solidFill>
              </a:rPr>
              <a:t>prompt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532120" y="2331720"/>
            <a:ext cx="1005840" cy="100584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6F2E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23560" y="242316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6289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02920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3. View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029200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85C"/>
                </a:solidFill>
              </a:rPr>
              <a:t>response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772400" y="2331720"/>
            <a:ext cx="1005840" cy="100584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CEBD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863840" y="2423160"/>
            <a:ext cx="822960" cy="822960"/>
          </a:xfrm>
          <a:prstGeom prst="ellipse">
            <a:avLst/>
          </a:prstGeom>
          <a:solidFill>
            <a:srgbClr val="C8500A"/>
          </a:solidFill>
          <a:ln w="12700">
            <a:solidFill>
              <a:srgbClr val="C8500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80" y="262890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6948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500A"/>
                </a:solidFill>
              </a:rPr>
              <a:t>4. Rate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269480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85C"/>
                </a:solidFill>
              </a:rPr>
              <a:t>complete · relevant · faithful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10012680" y="2331720"/>
            <a:ext cx="1005840" cy="100584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FDECE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104120" y="2423160"/>
            <a:ext cx="822960" cy="82296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9860" y="262890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0976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1E28"/>
                </a:solidFill>
              </a:rPr>
              <a:t>5. Save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509760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85C"/>
                </a:solidFill>
              </a:rPr>
              <a:t>to the test set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8640" y="45720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E8EAF6"/>
          </a:solidFill>
          <a:ln w="9525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4926330"/>
            <a:ext cx="251460" cy="2514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417320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949AB"/>
                </a:solidFill>
              </a:rPr>
              <a:t>Compare side by side</a:t>
            </a:r>
            <a:endParaRPr lang="en-US" sz="1550" dirty="0"/>
          </a:p>
        </p:txBody>
      </p:sp>
      <p:sp>
        <p:nvSpPr>
          <p:cNvPr id="37" name="Text 29"/>
          <p:cNvSpPr txBox="1"/>
          <p:nvPr/>
        </p:nvSpPr>
        <p:spPr>
          <a:xfrm>
            <a:off x="777240" y="5394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Try different models and prompts before adding them to the test set.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4251960" y="45720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E6F2E7"/>
          </a:solidFill>
          <a:ln w="9525">
            <a:solidFill>
              <a:srgbClr val="E6F2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480560" y="48006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290" y="4926330"/>
            <a:ext cx="251460" cy="25146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120640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32"/>
                </a:solidFill>
              </a:rPr>
              <a:t>Same as production</a:t>
            </a:r>
            <a:endParaRPr lang="en-US" sz="1550" dirty="0"/>
          </a:p>
        </p:txBody>
      </p:sp>
      <p:sp>
        <p:nvSpPr>
          <p:cNvPr id="42" name="Text 33"/>
          <p:cNvSpPr txBox="1"/>
          <p:nvPr/>
        </p:nvSpPr>
        <p:spPr>
          <a:xfrm>
            <a:off x="4480560" y="5394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Uses the same login and request flow, so the answers are real.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7955280" y="45720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8183880" y="4800600"/>
            <a:ext cx="502920" cy="50292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610" y="4926330"/>
            <a:ext cx="251460" cy="25146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823960" y="4818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71E28"/>
                </a:solidFill>
              </a:rPr>
              <a:t>Test safety checks</a:t>
            </a:r>
            <a:endParaRPr lang="en-US" sz="1550" dirty="0"/>
          </a:p>
        </p:txBody>
      </p:sp>
      <p:sp>
        <p:nvSpPr>
          <p:cNvPr id="47" name="Text 37"/>
          <p:cNvSpPr txBox="1"/>
          <p:nvPr/>
        </p:nvSpPr>
        <p:spPr>
          <a:xfrm>
            <a:off x="8183880" y="5394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Try different models and the moderation service.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457200" cy="329184"/>
          </a:xfrm>
          <a:prstGeom prst="roundRect">
            <a:avLst>
              <a:gd name="adj" fmla="val 50000"/>
            </a:avLst>
          </a:prstGeom>
          <a:solidFill>
            <a:srgbClr val="8C1D24"/>
          </a:solidFill>
          <a:ln w="12700">
            <a:solidFill>
              <a:srgbClr val="8C1D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24"/>
                </a:solidFill>
              </a:rPr>
              <a:t>WHAT'S NEXT</a:t>
            </a:r>
            <a:endParaRPr lang="en-US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685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are building next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D71E28"/>
          </a:solidFill>
          <a:ln w="12700">
            <a:solidFill>
              <a:srgbClr val="D71E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345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1E28"/>
                </a:solidFill>
              </a:rPr>
              <a:t>Create your own evaluators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Teams can add their own checks, and they appear in the UI automatically.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64592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E2F3F4"/>
          </a:solidFill>
          <a:ln w="9525">
            <a:solidFill>
              <a:srgbClr val="E2F3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8745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0345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</a:rPr>
              <a:t>Scheduled runs (cron)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The judge runs on a schedule by itself — no manual runs.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64592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E8EAF6"/>
          </a:solidFill>
          <a:ln w="9525">
            <a:solidFill>
              <a:srgbClr val="E8EA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8745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0345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49AB"/>
                </a:solidFill>
              </a:rPr>
              <a:t>Report creation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Ready-to-share reports with scores and trends.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15400" y="164592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44000" y="1874520"/>
            <a:ext cx="640080" cy="640080"/>
          </a:xfrm>
          <a:prstGeom prst="ellipse">
            <a:avLst/>
          </a:prstGeom>
          <a:solidFill>
            <a:srgbClr val="C8500A"/>
          </a:solidFill>
          <a:ln w="12700">
            <a:solidFill>
              <a:srgbClr val="C8500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0" y="20345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4400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00A"/>
                </a:solidFill>
              </a:rPr>
              <a:t>Prompt Hub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144000" y="2971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One place to store, version and reuse prompts.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393192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E6F2E7"/>
          </a:solidFill>
          <a:ln w="9525">
            <a:solidFill>
              <a:srgbClr val="E6F2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32054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7724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Single source of traces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257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All datasets, traces and results in one place that doesn't expire.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337560" y="3931920"/>
            <a:ext cx="2560320" cy="2057400"/>
          </a:xfrm>
          <a:prstGeom prst="roundRect">
            <a:avLst>
              <a:gd name="adj" fmla="val 4444"/>
            </a:avLst>
          </a:prstGeom>
          <a:solidFill>
            <a:srgbClr val="FFF5D1"/>
          </a:solidFill>
          <a:ln w="9525">
            <a:solidFill>
              <a:srgbClr val="FFF5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566160" y="4160520"/>
            <a:ext cx="640080" cy="640080"/>
          </a:xfrm>
          <a:prstGeom prst="ellipse">
            <a:avLst/>
          </a:prstGeom>
          <a:solidFill>
            <a:srgbClr val="B7860B"/>
          </a:solidFill>
          <a:ln w="12700">
            <a:solidFill>
              <a:srgbClr val="B7860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432054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56616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860B"/>
                </a:solidFill>
              </a:rPr>
              <a:t>Golden dataset creation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3566160" y="5257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Build test sets in the UI: pick questions, fill answers, add expert scores.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126480" y="393192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8C1D24"/>
          </a:solidFill>
          <a:ln w="9525">
            <a:solidFill>
              <a:srgbClr val="8C1D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355080" y="4160520"/>
            <a:ext cx="640080" cy="640080"/>
          </a:xfrm>
          <a:prstGeom prst="ellipse">
            <a:avLst/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320540"/>
            <a:ext cx="320040" cy="320040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10058400" y="4206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FCD41"/>
          </a:solidFill>
          <a:ln w="12700">
            <a:solidFill>
              <a:srgbClr val="FFCD41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1005840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1D24"/>
                </a:solidFill>
              </a:rPr>
              <a:t>NEXT HORIZON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6355080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D41"/>
                </a:solidFill>
              </a:rPr>
              <a:t>Evaluation Strategy Agent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6355080" y="52852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 agent that reads a team's testing plan — what to test, which checks, which data — and sets it all up in the studio.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MT Eval Studio">
  <a:themeElements>
    <a:clrScheme name="WIMT Eval Studio">
      <a:dk1>
        <a:srgbClr val="2B2B2B"/>
      </a:dk1>
      <a:lt1>
        <a:srgbClr val="FFFFFF"/>
      </a:lt1>
      <a:dk2>
        <a:srgbClr val="55585C"/>
      </a:dk2>
      <a:lt2>
        <a:srgbClr val="F4F4F4"/>
      </a:lt2>
      <a:accent1>
        <a:srgbClr val="D71E28"/>
      </a:accent1>
      <a:accent2>
        <a:srgbClr val="FFCD41"/>
      </a:accent2>
      <a:accent3>
        <a:srgbClr val="0E7C86"/>
      </a:accent3>
      <a:accent4>
        <a:srgbClr val="3949AB"/>
      </a:accent4>
      <a:accent5>
        <a:srgbClr val="2E7D32"/>
      </a:accent5>
      <a:accent6>
        <a:srgbClr val="C8500A"/>
      </a:accent6>
      <a:hlink>
        <a:srgbClr val="D71E28"/>
      </a:hlink>
      <a:folHlink>
        <a:srgbClr val="8C1D24"/>
      </a:folHlink>
    </a:clrScheme>
    <a:fontScheme name="WIMT Eval Stud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WIMT Evaluation Studio</dc:title>
  <dc:subject>PptxGenJS Presentation</dc:subject>
  <dc:creator>Rahul Vinayak</dc:creator>
  <cp:lastModifiedBy>Rahul Vinayak</cp:lastModifiedBy>
  <cp:revision>1</cp:revision>
  <dcterms:created xsi:type="dcterms:W3CDTF">2026-10-15T12:39:19Z</dcterms:created>
  <dcterms:modified xsi:type="dcterms:W3CDTF">2026-10-15T12:39:19Z</dcterms:modified>
</cp:coreProperties>
</file>